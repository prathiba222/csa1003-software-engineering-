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698" y="1729829"/>
            <a:ext cx="3682454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211" y="3680370"/>
            <a:ext cx="9375427" cy="144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40984" y="2291804"/>
            <a:ext cx="5309882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b="0" sz="3450" i="0" u="none">
                <a:solidFill>
                  <a:srgbClr val="FFFFFF"/>
                </a:solidFill>
                <a:latin typeface="Plus Jakarta Sans ExtraBold"/>
              </a:rPr>
              <a:t>Smart Cities &amp; AI-Driven</a:t>
            </a:r>
            <a:r>
              <a:t>
</a:t>
            </a:r>
            <a:r>
              <a:rPr b="0" sz="3450" i="0" u="none">
                <a:solidFill>
                  <a:srgbClr val="FFFFFF"/>
                </a:solidFill>
                <a:latin typeface="Plus Jakarta Sans ExtraBold"/>
              </a:rPr>
              <a:t> Urban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8736" y="3918495"/>
            <a:ext cx="4106614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Student Name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K.Prathiba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351" y="3918495"/>
            <a:ext cx="4106763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Register Number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192421163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736" y="4499520"/>
            <a:ext cx="4106614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Course Name &amp; Code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Software Engineering (1003)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351" y="4499520"/>
            <a:ext cx="4106763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Faculty Supervisor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Dr. T.M. Usha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54069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1. Introduction to Tech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1152525"/>
            <a:ext cx="554069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Transforming Modern Urban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533525"/>
            <a:ext cx="52768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AI-driven Smart City technology integrates Artificial Intelligence, Internet of Things (IoT), and big data analytics into civic infrastructure to automate urban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462807"/>
            <a:ext cx="52768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From self-optimizing traffic grids to intelligent waste collection and predictive public safety, AI turns static cities into adaptive, responsive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392090"/>
            <a:ext cx="52768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In software engineering, this represents a paradigm shift toward distributed real-time systems, scalable cloud-edge architectures, and data privacy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05347"/>
            <a:ext cx="3524250" cy="29140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05347"/>
            <a:ext cx="3524250" cy="29140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305347"/>
            <a:ext cx="3524250" cy="29140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58157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267372"/>
            <a:ext cx="192117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Rapid Urbanization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48372"/>
            <a:ext cx="3048000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By 2050, nearly 70% of the global population will live in urban areas, creating massive congestion and resource strains on traditional infrastructure.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58157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267372"/>
            <a:ext cx="231919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Sustainability &amp;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48372"/>
            <a:ext cx="30480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Conventional municipal grids waste up to 30% of energy. AI algorithms optimize power grid distribution and reduce carbon footprints.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58157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267372"/>
            <a:ext cx="227356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Operational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648372"/>
            <a:ext cx="30480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Manual civic monitoring is slow and costly. Automated AI systems enable proactive asset maintenance and rapid emergency responses.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" y="2705397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825" y="270539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8675" y="270539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2. Need and Motivation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41599"/>
            <a:ext cx="5372100" cy="10798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35796"/>
            <a:ext cx="5372100" cy="10798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229992"/>
            <a:ext cx="5372100" cy="13388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841599"/>
            <a:ext cx="53721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50" y="2003524"/>
            <a:ext cx="53006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1. Perception &amp; Sensing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241649"/>
            <a:ext cx="5048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IoT sensors, CCTV video feeds, environmental meters, and GPS units continuously capture physical city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197721"/>
            <a:ext cx="53006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2. Network &amp; Edge Aggregation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435846"/>
            <a:ext cx="5048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High-speed 5G networks and edge computing nodes process initial raw telemetric data with ultra-low latency.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4391917"/>
            <a:ext cx="53006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3. AI Analytics Core &amp; Actuation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630042"/>
            <a:ext cx="50482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Machine learning models generate actionable insights, sending commands back to physical actuators, signals, and municipal teams.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851124"/>
            <a:ext cx="5353050" cy="3600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3. Working Principle &amp;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68153"/>
            <a:ext cx="11029950" cy="582810"/>
          </a:xfrm>
          <a:prstGeom prst="roundRect">
            <a:avLst>
              <a:gd name="adj" fmla="val 19611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5375" y="2520553"/>
            <a:ext cx="103251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IoT Sensors &amp; Actuators: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Embedded hardware nodes deployed across roads, utilities, and buildings for continuous real-time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3103364"/>
            <a:ext cx="11029950" cy="582810"/>
          </a:xfrm>
          <a:prstGeom prst="roundRect">
            <a:avLst>
              <a:gd name="adj" fmla="val 19611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3255764"/>
            <a:ext cx="103251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Computer Vision &amp; Deep Learning: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Convolutional Neural Networks (CNNs) analyzing video streams for traffic control and surveillance.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3838575"/>
            <a:ext cx="11029950" cy="582810"/>
          </a:xfrm>
          <a:prstGeom prst="roundRect">
            <a:avLst>
              <a:gd name="adj" fmla="val 19611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3990975"/>
            <a:ext cx="103251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Digital Twin Modeling: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3D virtual replicas of physical city assets simulating disaster scenarios and urban expansion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4573785"/>
            <a:ext cx="11029950" cy="582810"/>
          </a:xfrm>
          <a:prstGeom prst="roundRect">
            <a:avLst>
              <a:gd name="adj" fmla="val 19611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5375" y="4726185"/>
            <a:ext cx="10325100" cy="2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5G Connectivity &amp; Edge AI: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High-bandwidth, low-latency communication enabling real-time autonomous vehicle routing.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2941439"/>
            <a:ext cx="110299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676650"/>
            <a:ext cx="110299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411860"/>
            <a:ext cx="110299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5147071"/>
            <a:ext cx="110299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54436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279576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014787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749998"/>
            <a:ext cx="23812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4. Key Components &amp; Technologies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52525"/>
            <a:ext cx="5276850" cy="12322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99121"/>
            <a:ext cx="5276850" cy="12322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45718"/>
            <a:ext cx="5276850" cy="1232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5540692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5. Applications &amp; Use Cases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1314450"/>
            <a:ext cx="5200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Intelligent Traffic Control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1552575"/>
            <a:ext cx="4953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Dynamic signal adjusting based on real-time vehicle density cuts traffic delays by up to 25%.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661046"/>
            <a:ext cx="5200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Smart Energy Grids &amp; Street Lighting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99171"/>
            <a:ext cx="4953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Adaptive streetlights dim when streets are empty; smart microgrids reroute renewable power seamlessly.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4007643"/>
            <a:ext cx="5200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Automated Waste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245768"/>
            <a:ext cx="49530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Sensors measure trash levels in bins, optimizing municipal garbage truck dispatch routes.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0243"/>
            <a:ext cx="5372100" cy="3624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50243"/>
            <a:ext cx="5372100" cy="3624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264568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Key 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350" y="2645568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0" y="2264568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Current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3200" y="2645568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3950" y="2807493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Enhanced Safety: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AI surveillance reduces emergency response times significantly.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420665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Resource Optimization: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Lowers municipal energy consumption and water wastage.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033837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Data-Driven Policy: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Enables city planners to make evidence-based zoning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647009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Reduced Emissions: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Smooth traffic flow lowers vehicular greenhouse gas emissions.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807493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High Deployment Cost: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Massive capital required for sensors, 5G networks, and compute.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420665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Cybersecurity Risks: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Vulnerability to ransomware attacks targeting municipal utilities.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033837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Data Privacy Concerns: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Continuous video surveillance risks infringing citizen rights.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647009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Legacy Interoperability: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Difficulty integrating modern AI engines into older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2769393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382565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3995737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608909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1300" y="2769393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1300" y="3382565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3995737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300" y="4608909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6. Advantages &amp; Limitations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43325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00500"/>
            <a:ext cx="2536775" cy="14531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3" y="1852017"/>
            <a:ext cx="2536775" cy="16722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42" y="4000500"/>
            <a:ext cx="2536775" cy="14531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050" y="2284362"/>
            <a:ext cx="2536775" cy="1239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4162425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2022 - Edge AI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38650"/>
            <a:ext cx="22129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Widespread shift from centralized cloud computing to processing data directly on roadside edge devices.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958" y="2013942"/>
            <a:ext cx="232357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2024 - Generative AI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509242"/>
            <a:ext cx="22129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Urban architects leverage GenAI models to design energy-efficient building layouts and transportation grids.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4967" y="4162425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2025 - Autonomous Fleets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438650"/>
            <a:ext cx="22129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Integration of V2X (Vehicle-to-Everything) communication for self-driving public transport shuttles.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975" y="244628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2026+ - Autonomous Grids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2722512"/>
            <a:ext cx="22129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Fully self-healing urban energy grids driven by zero-human-touch predictive AI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7. Recent Developments &amp;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54162" y="3667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5171" y="3667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6179" y="3667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7188" y="3667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4828"/>
            <a:ext cx="3524250" cy="26550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34828"/>
            <a:ext cx="3524250" cy="26550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34828"/>
            <a:ext cx="3524250" cy="26550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11053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96853"/>
            <a:ext cx="190226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Ethical AI &amp;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777853"/>
            <a:ext cx="30480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Developing strict software governance frameworks to anonymize biometric video data and eliminate algorithmic bias in law enforcement.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71105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396853"/>
            <a:ext cx="239358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Standardized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77853"/>
            <a:ext cx="30480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Establishing universal open-source IoT APIs so multi-vendor smart city systems can communicate seamlessly.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71105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396853"/>
            <a:ext cx="136751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777853"/>
            <a:ext cx="304800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Integration of Quantum AI computing for instant city-wide traffic optimization and climate resilience forecasting models.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" y="2834878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2834878"/>
            <a:ext cx="1905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5337" y="2834878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8. Challenges &amp; Future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1560"/>
            <a:ext cx="5372100" cy="25616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481560"/>
            <a:ext cx="5372100" cy="2561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795885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Singapore "Smart Nation"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350" y="3176885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3338810"/>
            <a:ext cx="47434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Implementation: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Built a complete virtual "Virtual Singapore" digital twin platform fed by millions of IoT sensors.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951982"/>
            <a:ext cx="47434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Results: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Reduced emergency vehicle dispatch time by 20% and optimized wind flow modeling to naturally cool public housing estates.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795885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Barcelona Smart Lighting &amp; IoT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3200" y="3176885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3338810"/>
            <a:ext cx="47434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Implementation: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Deployed dynamic LED lighting equipped with environmental sensors and Wi-Fi routers across the 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951982"/>
            <a:ext cx="47434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94A3B8"/>
                </a:solidFill>
                <a:latin typeface="Inter"/>
              </a:rPr>
              <a:t>Results: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Achieved 30% reduction in municipal energy expenditure and generated over $50M in annual water management savings.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9. Case Study / 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9724"/>
            <a:ext cx="5372100" cy="33653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79724"/>
            <a:ext cx="5372100" cy="3365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394049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350" y="2775049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2936974"/>
            <a:ext cx="47434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AI-driven smart city technologies are essential for creating resilient, sustainable, and efficient future urban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809107"/>
            <a:ext cx="47434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Success requires a balance between rapid technological adoption, robust software engineering design, and strong privacy protection for citizens.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394049"/>
            <a:ext cx="49806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Key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3200" y="2775049"/>
            <a:ext cx="474345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1800" y="2936974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IEEE Computer Society: </a:t>
            </a:r>
            <a:r>
              <a:rPr b="0" sz="1275" i="1" u="none">
                <a:solidFill>
                  <a:srgbClr val="94A3B8"/>
                </a:solidFill>
                <a:latin typeface="Inter"/>
              </a:rPr>
              <a:t>Software Architectures for IoT-enabled Smart Cities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550146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ACM Digital Library: </a:t>
            </a:r>
            <a:r>
              <a:rPr b="0" sz="1275" i="1" u="none">
                <a:solidFill>
                  <a:srgbClr val="94A3B8"/>
                </a:solidFill>
                <a:latin typeface="Inter"/>
              </a:rPr>
              <a:t>Artificial Intelligence in Urban Traffic Systems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4163317"/>
            <a:ext cx="4514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ISO/IEC 30141: </a:t>
            </a:r>
            <a:r>
              <a:rPr b="0" sz="1275" i="1" u="none">
                <a:solidFill>
                  <a:srgbClr val="94A3B8"/>
                </a:solidFill>
                <a:latin typeface="Inter"/>
              </a:rPr>
              <a:t>Internet of Things Reference Architecture for Municipalities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4776489"/>
            <a:ext cx="45148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UN-Habitat Report: </a:t>
            </a:r>
            <a:r>
              <a:rPr b="0" sz="1275" i="1" u="none">
                <a:solidFill>
                  <a:srgbClr val="94A3B8"/>
                </a:solidFill>
                <a:latin typeface="Inter"/>
              </a:rPr>
              <a:t>Smart Cities for a Sustainable Future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2898874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512046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125217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4738389"/>
            <a:ext cx="114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10. Conclusion &amp;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391816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374677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3651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3651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41499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1499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4035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2534691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https://static.vecteezy.com/system/resources/thumbnails/070/681/698/small/cityscape-at-night-with-digital-network-connection-lines-futuristic-urban-technology-and-communication-infrastructure-photo.jpeg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97849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52410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3517552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https://a.storyblok.com/f/122804/1600x896/8037002dad/the-technical-backbone-of-digital-twins.webp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376326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www.toobler.com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0799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4302323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https://www.hanwhavision.com/_next/image?url=https%3A%2F%2Fupload.hanwhavision.com%2Fhanwha-global%2F%2Fmigrated%2Fcontent-images%2F2026%2F4%2FLPR-cameras-article-image-2000x848.png&amp;w=3840&amp;q=75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4746128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www.hanwhavision.com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85775"/>
            <a:ext cx="1158144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86677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